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2D-4E6F-8C9A-646DDA22306C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2D-4E6F-8C9A-646DDA22306C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2D-4E6F-8C9A-646DDA22306C}"/>
              </c:ext>
            </c:extLst>
          </c:dPt>
          <c:dPt>
            <c:idx val="3"/>
            <c:bubble3D val="0"/>
            <c:spPr>
              <a:solidFill>
                <a:srgbClr val="BFE8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52D-4E6F-8C9A-646DDA22306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52D-4E6F-8C9A-646DDA22306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2D-4E6F-8C9A-646DDA22306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2D-4E6F-8C9A-646DDA22306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2D-4E6F-8C9A-646DDA22306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GPS Check-in</c:v>
                </c:pt>
                <c:pt idx="1">
                  <c:v>UPI Payment</c:v>
                </c:pt>
                <c:pt idx="2">
                  <c:v>Photo Upload</c:v>
                </c:pt>
                <c:pt idx="3">
                  <c:v>Customer Confirmation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2D-4E6F-8C9A-646DDA2230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Contribution Margin / Job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(Rs./job)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59-4B11-9491-3A7888B08BC6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59-4B11-9491-3A7888B08B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Month 6</c:v>
                </c:pt>
                <c:pt idx="1">
                  <c:v>Month 12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59-4B11-9491-3A7888B08B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064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89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5029200" cy="5029200"/>
          </a:xfrm>
          <a:prstGeom prst="ellipse">
            <a:avLst/>
          </a:prstGeom>
          <a:solidFill>
            <a:srgbClr val="0F4A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015C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77656" y="5394960"/>
            <a:ext cx="521208" cy="0"/>
          </a:xfrm>
          <a:prstGeom prst="line">
            <a:avLst/>
          </a:prstGeom>
          <a:noFill/>
          <a:ln w="19050">
            <a:solidFill>
              <a:srgbClr val="02C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363456" y="5394960"/>
            <a:ext cx="521208" cy="0"/>
          </a:xfrm>
          <a:prstGeom prst="line">
            <a:avLst/>
          </a:prstGeom>
          <a:noFill/>
          <a:ln w="19050">
            <a:solidFill>
              <a:srgbClr val="02C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49256" y="5394960"/>
            <a:ext cx="521208" cy="0"/>
          </a:xfrm>
          <a:prstGeom prst="line">
            <a:avLst/>
          </a:prstGeom>
          <a:noFill/>
          <a:ln w="19050">
            <a:solidFill>
              <a:srgbClr val="02C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735056" y="5394960"/>
            <a:ext cx="521208" cy="0"/>
          </a:xfrm>
          <a:prstGeom prst="line">
            <a:avLst/>
          </a:prstGeom>
          <a:noFill/>
          <a:ln w="19050">
            <a:solidFill>
              <a:srgbClr val="02C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0" y="53126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281160" y="53126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966960" y="53126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652760" y="53126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338560" y="53126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 |  MVP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TrustFix</a:t>
            </a:r>
            <a:endParaRPr lang="en-US" sz="76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 Trust Ledger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58368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neighbor's verified plumber your plumber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 Evaporation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0FBFA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527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home service transaction starts from ZERO.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neighbor hired a great plumber in 2022. You need one in 2026. That previous transaction is invisible. The trust evaporated.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22376" y="288950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22376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search from scratch every time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accumulated trust signal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pricing, quality, reliability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7432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97680" y="27432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71416" y="288950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71416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Providers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36118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monetize reputation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work goes unnoticed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extract 30–40% for coordination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27432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046720" y="274320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0456" y="288950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0456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Market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36118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Lemons market: bad providers drive out good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options too expensive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market underserved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isn't broken because reviews are fake. Trust is broken because reputation doesn't compound.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Two-Sided Personas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82980" y="18973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2980" y="18973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20391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Anxious Ananya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8072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34  |  Marketing Manager  |  Sobha Palm Court, Bangalore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127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done: 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my pipe leaks at 7 PM, I need someone reliable within the hour who won't overcharge.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14223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search from scratch every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arrivals, price surprises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recourse when things go wrong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 </a:t>
            </a: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15  ·  UPI daily  ·  Amazon Prime  ·  Never used Urban Company (too expensive)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5840" y="5669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“Verified by 4 families in your building”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46304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46520" y="173736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06540" y="18973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06540" y="18973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20391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Ramesh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92240" y="28072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31  |  Electrician  |  8 yrs experience  |  Self-taught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127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done: 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consistent work without paying 30% to middlemen. I want to buy a scooter.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14223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income, fake JustDial leads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build reputation beyond word-of-mouth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complex forms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5166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 </a:t>
            </a: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8,000 Android  ·  WhatsApp for everything  ·  YouTube to learn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46520" y="566928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629400" y="5669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“Tokens = visibility = more jobs = scooter dream”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Neighborhood Trust Ledger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9120" y="137160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transactions: every job creates an immutable, append-only entry on the ledger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compounds: each Job Token links to the previous one in the same neighborhood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 trust: neighborhood-weighted, not city-wide — the closer, the stronger the signal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provider history: providers own their verified record, not the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92583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F0FBFA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892583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46504" y="2892583"/>
            <a:ext cx="1883664" cy="365760"/>
          </a:xfrm>
          <a:prstGeom prst="roundRect">
            <a:avLst>
              <a:gd name="adj" fmla="val 50000"/>
            </a:avLst>
          </a:prstGeom>
          <a:solidFill>
            <a:srgbClr val="F0FBFA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46504" y="2892583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Neighborhood-scoped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67328" y="2892583"/>
            <a:ext cx="1472184" cy="365760"/>
          </a:xfrm>
          <a:prstGeom prst="roundRect">
            <a:avLst>
              <a:gd name="adj" fmla="val 50000"/>
            </a:avLst>
          </a:prstGeom>
          <a:solidFill>
            <a:srgbClr val="F0FBFA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67328" y="2892583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decay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76672" y="2892583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0FBFA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76672" y="2892583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" y="3486943"/>
            <a:ext cx="7315200" cy="1325880"/>
          </a:xfrm>
          <a:prstGeom prst="roundRect">
            <a:avLst>
              <a:gd name="adj" fmla="val 5517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5236" y="3596671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Token Structure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" y="3843559"/>
            <a:ext cx="7535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provider_id | customer_hash | building_id | gps_coords | upi_ref | timestamp | previous_hash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5236" y="4162106"/>
            <a:ext cx="6890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Ramesh_001 | Anon_7a3f | Sobha_PC | 12.97,77.65 | UPI_abc | 2026-07-01 | Hash_prev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5236" y="4556791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cryptographically references the prior job in that building — the chain is what makes trust portable and provable.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038344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F0FBFA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5129784"/>
            <a:ext cx="6217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weights: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8 in-depth interviews: homeowners trusted same-building referrals 2–3x more than nearby ones. GPS proves location, UPI proves payment, photos prove work, and confirmation proves satisfaction.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144167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Signal Weights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648594042"/>
              </p:ext>
            </p:extLst>
          </p:nvPr>
        </p:nvGraphicFramePr>
        <p:xfrm>
          <a:off x="8154954" y="1749583"/>
          <a:ext cx="3847011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8154954" y="4892040"/>
            <a:ext cx="3595086" cy="868680"/>
          </a:xfrm>
          <a:prstGeom prst="roundRect">
            <a:avLst>
              <a:gd name="adj" fmla="val 8421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154954" y="4892040"/>
            <a:ext cx="35950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40%  ·  UPI 30%  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20%  ·  Confirm 10%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WhatsApp-First Booking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42416" y="1737360"/>
            <a:ext cx="402336" cy="402336"/>
          </a:xfrm>
          <a:prstGeom prst="ellipse">
            <a:avLst/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4241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9264" y="228600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926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" y="29718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WhatsApp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3355848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“Plumber urgent, leaking pipe kitchen”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56816" y="2926080"/>
            <a:ext cx="91440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066544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066544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0" y="1737360"/>
            <a:ext cx="402336" cy="402336"/>
          </a:xfrm>
          <a:prstGeom prst="ellipse">
            <a:avLst/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6032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487168" y="228600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8716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39696" y="29718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39696" y="3355848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pre-verified providers nearby with tokens &amp; prices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926080"/>
            <a:ext cx="91440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584448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584448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078224" y="1737360"/>
            <a:ext cx="402336" cy="402336"/>
          </a:xfrm>
          <a:prstGeom prst="ellipse">
            <a:avLst/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07822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005072" y="228600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0507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0" y="29718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Track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0" y="3355848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“1” → SMS with contact, photo, ETA, live tracking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92624" y="2926080"/>
            <a:ext cx="91440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102352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102352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596128" y="1737360"/>
            <a:ext cx="402336" cy="402336"/>
          </a:xfrm>
          <a:prstGeom prst="ellipse">
            <a:avLst/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59612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522976" y="228600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52297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75504" y="29718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Done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175504" y="3355848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via UPI or cash directly. No escrow in MVP.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10528" y="2926080"/>
            <a:ext cx="91440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620256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620256" y="1554480"/>
            <a:ext cx="1389888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114032" y="1737360"/>
            <a:ext cx="402336" cy="402336"/>
          </a:xfrm>
          <a:prstGeom prst="ellipse">
            <a:avLst/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11403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040880" y="2286000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0408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93408" y="29718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Earn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693408" y="3355848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“YES” → token minted → you earn Rs. 50 credit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5262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31520" y="4636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" y="491032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1A54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22960" y="4910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urgent, leaking pipe kitchen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1520" y="54406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22960" y="54589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plumbers... Reply 1, 2 or 3.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Ramesh — Rs.350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Suresh — Rs.400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46120" y="452628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0FBFA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47472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~15 Minutes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474720" y="5074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from WhatsApp message to a confirmed, priced provider match — no app download required.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635240" y="4526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635240" y="46817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Min</a:t>
            </a:r>
            <a:endParaRPr lang="en-US" sz="4000" dirty="0"/>
          </a:p>
        </p:txBody>
      </p:sp>
      <p:sp>
        <p:nvSpPr>
          <p:cNvPr id="59" name="Text 57"/>
          <p:cNvSpPr/>
          <p:nvPr/>
        </p:nvSpPr>
        <p:spPr>
          <a:xfrm>
            <a:off x="7635240" y="5349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 Time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818120" y="5669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required for first booking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Zero-Friction Onboarding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3 Minutes Total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7220" y="1851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OTP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395728"/>
            <a:ext cx="0" cy="301752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7220" y="2720340"/>
            <a:ext cx="502920" cy="50292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722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344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photo + any 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264408"/>
            <a:ext cx="0" cy="301752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7220" y="3589020"/>
            <a:ext cx="502920" cy="50292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344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15-sec skill video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4133088"/>
            <a:ext cx="0" cy="301752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7220" y="4457700"/>
            <a:ext cx="502920" cy="50292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7220" y="4457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344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service area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448056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Rs. 500 after 3 completed jobs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57800" y="1417320"/>
            <a:ext cx="3017520" cy="4434840"/>
          </a:xfrm>
          <a:prstGeom prst="roundRect">
            <a:avLst>
              <a:gd name="adj" fmla="val 4545"/>
            </a:avLst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Namaste, Ramesh!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Tokens</a:t>
            </a:r>
            <a:r>
              <a:rPr lang="en-US" sz="1150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15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Tier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58968" y="2377440"/>
            <a:ext cx="2615184" cy="1600200"/>
          </a:xfrm>
          <a:prstGeom prst="roundRect">
            <a:avLst>
              <a:gd name="adj" fmla="val 5714"/>
            </a:avLst>
          </a:prstGeom>
          <a:solidFill>
            <a:srgbClr val="0F4A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641848" y="2514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Job Alert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41848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350  ·  Sobha Palm Court, #402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41848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2 PM  ·  1.2 km away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41848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keep: Rs. 315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41848" y="36301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641848" y="3630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32320" y="36301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A54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132320" y="36301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0" y="4526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jobs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486400" y="5029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12280" y="4526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2,800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812280" y="5029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58968" y="5394960"/>
            <a:ext cx="2615184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458968" y="53949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Single-screen PWA — works on any Android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496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Providers Choose TrustFix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49640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49640" y="21488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49640" y="2331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(UC)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549640" y="25786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49640" y="28072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24h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549640" y="29900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(UC)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549640" y="32369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549640" y="34655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tokens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549640" y="36484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Platform-locked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549640" y="38953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549640" y="41239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on tokens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549640" y="430682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549640" y="45537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549640" y="47823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cover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549640" y="49651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549640" y="53492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0B3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686800" y="5349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“UC rents you customers.</a:t>
            </a:r>
            <a:endParaRPr lang="en-US" sz="950" dirty="0"/>
          </a:p>
          <a:p>
            <a:pPr marL="0" indent="0"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helps you own your reputation.”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Token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Trust Compounds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42416" y="1664208"/>
            <a:ext cx="457200" cy="45720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4241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57784" y="15819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22219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Initiated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262432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messages WhatsApp → platform matches provider by availability + tokens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48256" y="2834640"/>
            <a:ext cx="7315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0552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130552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70048" y="1664208"/>
            <a:ext cx="457200" cy="45720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67004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85416" y="15819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03704" y="22219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Check-in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03704" y="262432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PWA auto-logs location at job start. Fallback: manual selection + photo timestamp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75888" y="2834640"/>
            <a:ext cx="7315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58184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58184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297680" y="1664208"/>
            <a:ext cx="457200" cy="45720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9768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13048" y="15819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31336" y="22219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Complete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31336" y="262432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uploads after-photo. Customer pays via UPI or cash directly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2834640"/>
            <a:ext cx="7315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385816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385816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25312" y="1664208"/>
            <a:ext cx="457200" cy="45720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92531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40680" y="15819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58968" y="22219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58968" y="262432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GPS(40%) + UPI(30%) + Photo(20%) + Confirm(10%) = signal strength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31152" y="2834640"/>
            <a:ext cx="7315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013448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013448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552944" y="1664208"/>
            <a:ext cx="457200" cy="45720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55294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⬟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068312" y="15819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86600" y="22219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Minted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086600" y="262432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signals = Full token (1.0x). 2 signals = Partial (0.5x). &lt;2 = none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58784" y="2834640"/>
            <a:ext cx="7315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641080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641080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9180576" y="1664208"/>
            <a:ext cx="457200" cy="45720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18057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695944" y="15819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714232" y="22219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Update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714232" y="262432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index updated, ranking recalculated, Building Captain notified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186416" y="2834640"/>
            <a:ext cx="7315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0268712" y="1508760"/>
            <a:ext cx="1536192" cy="2651760"/>
          </a:xfrm>
          <a:prstGeom prst="roundRect">
            <a:avLst>
              <a:gd name="adj" fmla="val 4762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10808208" y="16642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08082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⤴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323576" y="15819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341864" y="222199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&amp; Growth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341864" y="2624328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customers see the token instantly. Provider gets more jobs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Loop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48640" y="4800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4864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2880360" y="48006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3383280" y="4800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38328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Ranking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5715000" y="48006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6217920" y="4800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21792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Jobs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8549640" y="48006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9052560" y="4800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0FBFA"/>
          </a:solidFill>
          <a:ln w="15875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9052560" y="4800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548640" y="58704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compounds — each verified job increases the odds of the next.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Four-Layer Defense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00200" y="16047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00200" y="16047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Economic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job value Rs. 200 for token eligibility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deposit Rs. 50 (refunded if valid)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jury costs Rs. 200 (loser pays)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attack &gt; value of attack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444752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83280" y="1444752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34840" y="16047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34840" y="16047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Technical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2770632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fingerprinting prevents multi-accounting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linkage across accounts detects collusion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limits: max 3 tokens/day per provider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anomaly detection flags suspicious patterns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444752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17920" y="1444752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269480" y="16047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69480" y="16047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Social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770632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Repeat-customer tokens weighted 2x first-time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Captain verifies new provider claims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reputation is public — gaming hurts real relationships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1444752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052560" y="1444752"/>
            <a:ext cx="2697480" cy="3858768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104120" y="16047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104120" y="16047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89720" y="2313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Audit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81160" y="2770632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random manual review of all tokens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GPS + UPI cross-check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Provider-device binding at location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pattern analysis for anomalies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7240" y="548640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2%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2286000" y="548640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fraud rate with all four layers active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5486400"/>
            <a:ext cx="5577840" cy="804672"/>
          </a:xfrm>
          <a:prstGeom prst="roundRect">
            <a:avLst>
              <a:gd name="adj" fmla="val 9091"/>
            </a:avLst>
          </a:prstGeom>
          <a:solidFill>
            <a:srgbClr val="F0FBFA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63640" y="548640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092440" y="548640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 fraud/manipulation rate (star ratings)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Prioritization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Score = </a:t>
            </a:r>
            <a:r>
              <a:rPr lang="en-US" sz="1300" b="1" i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(Reach × Impact × Confidence) / Effort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109960" cy="3389683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Booking 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3-Min Provider Onboarding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 Txn Display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Price Anchor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Scheduling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Job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PWA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Captain 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1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Resolution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109960" cy="1024128"/>
          </a:xfrm>
          <a:prstGeom prst="roundRect">
            <a:avLst>
              <a:gd name="adj" fmla="val 7143"/>
            </a:avLst>
          </a:prstGeom>
          <a:solidFill>
            <a:srgbClr val="F0FBFA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2960" y="5257800"/>
            <a:ext cx="10561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MVP: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pricing, background checks, provider training, subscription plans, native mobile apps, multi-city expansion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Apartment-First Density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70048" cy="37490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70048" cy="37490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8660" y="16230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08660" y="16230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8928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3317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Seeding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834640"/>
            <a:ext cx="2340864" cy="41148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3232" y="283464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Providers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342900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market recruitment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 first 10 jobs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500 onboarding bonus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agent support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18688" y="3108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55848" y="1463040"/>
            <a:ext cx="2670048" cy="37490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355848" y="1463040"/>
            <a:ext cx="2670048" cy="37490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515868" y="16230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15868" y="16230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78808" y="16642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78808" y="18928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23317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Building Proof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20440" y="2834640"/>
            <a:ext cx="2340864" cy="41148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20440" y="283464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Jobs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7016" y="342900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Sobha Palm Court partnership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safety audit for residents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density drives retention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unit economics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25896" y="3108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3056" y="1463040"/>
            <a:ext cx="2670048" cy="37490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63056" y="1463040"/>
            <a:ext cx="2670048" cy="37490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23076" y="16230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23076" y="16230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86016" y="16642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86016" y="18928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27648" y="23317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Expansion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27648" y="2834640"/>
            <a:ext cx="2340864" cy="411480"/>
          </a:xfrm>
          <a:prstGeom prst="roundRect">
            <a:avLst>
              <a:gd name="adj" fmla="val 13333"/>
            </a:avLst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27648" y="283464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Jobs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64224" y="342900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 buildings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Captain program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credits activate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&gt;5 jobs/building/week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33104" y="3108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70264" y="1463040"/>
            <a:ext cx="2670048" cy="3749040"/>
          </a:xfrm>
          <a:prstGeom prst="roundRect">
            <a:avLst>
              <a:gd name="adj" fmla="val 2740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130284" y="16230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130284" y="16230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93224" y="16642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93224" y="18928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34856" y="233172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City Scale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134856" y="2834640"/>
            <a:ext cx="2340864" cy="411480"/>
          </a:xfrm>
          <a:prstGeom prst="roundRect">
            <a:avLst>
              <a:gd name="adj" fmla="val 13333"/>
            </a:avLst>
          </a:prstGeom>
          <a:solidFill>
            <a:srgbClr val="0F4A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134856" y="283464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Jobs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71432" y="342900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+ AC categories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&amp; Hyderabad launch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financing live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39496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BF0DA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00100" y="5618988"/>
            <a:ext cx="502920" cy="502920"/>
          </a:xfrm>
          <a:prstGeom prst="ellipse">
            <a:avLst/>
          </a:prstGeom>
          <a:solidFill>
            <a:srgbClr val="E8C4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00100" y="56189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463040" y="53949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Gate: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jobs/building/week &lt; 5 → PAUSE expansion. Fix pricing, add providers, increase marketing before expanding further.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to Profitability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23760" cy="4433923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+Electrical + AC 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Sustainable vs Urban Company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 / Job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AOV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 (3%)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volume discounts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/ WhatsApp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discounts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+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MARGIN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Cross-category + efficiency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CAC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loops mature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jobs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jobs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margins + lower CAC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Fixed Costs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8L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12L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expansion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Jobs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+ 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P&amp;L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-Rs. 7L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+Rs. 6L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Cross-category LTV essential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8001000" y="1417320"/>
          <a:ext cx="36576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8001000" y="3547872"/>
            <a:ext cx="3657600" cy="1719072"/>
          </a:xfrm>
          <a:prstGeom prst="roundRect">
            <a:avLst>
              <a:gd name="adj" fmla="val 4255"/>
            </a:avLst>
          </a:prstGeom>
          <a:solidFill>
            <a:srgbClr val="F0FBFA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8183880" y="3630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183880" y="3931920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6: </a:t>
            </a: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unit economics (Rs. 22 margin)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9: </a:t>
            </a: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LTV &gt; CAC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12: </a:t>
            </a:r>
            <a:r>
              <a:rPr lang="en-US" sz="1100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Rs. 6L monthly profit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001000" y="5376672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8183880" y="537667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is intentionally loss-making. Month 6 proves unit economics. Month 12 scales via cross-category expansion.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4" name="Text 8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Neighborhood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987552"/>
          </a:xfrm>
          <a:prstGeom prst="roundRect">
            <a:avLst>
              <a:gd name="adj" fmla="val 7407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Neighborhood Jobs (VNJ)  —  </a:t>
            </a:r>
            <a:r>
              <a:rPr lang="en-US" sz="12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jobs with all 3 verification signals in a neighborhood with &gt;5 prior verified jobs.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2770632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035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Building / Week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5204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0312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for word-of-mouth activation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606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97680" y="2606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480560" y="2770632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48056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035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Jobs with 3 Signals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26280" y="35204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2628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5216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token rate = trust integrity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2606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46720" y="2606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229600" y="2770632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2960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869680" y="2788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3035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75320" y="35204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7532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stickiness to platform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48640" y="46177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31520" y="4782312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3152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37160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71600" y="50474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77240" y="55321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77240" y="5532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30%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10312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booking within 30 days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0" y="46177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297680" y="46177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480560" y="4782312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48056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50474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26280" y="55321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526280" y="5532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Rs. 20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85216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job, after variable costs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46720" y="46177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8046720" y="46177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8229600" y="4782312"/>
            <a:ext cx="548640" cy="548640"/>
          </a:xfrm>
          <a:prstGeom prst="ellipse">
            <a:avLst/>
          </a:prstGeom>
          <a:solidFill>
            <a:srgbClr val="F0F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22960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⤴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869680" y="4800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869680" y="50474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/ Referral %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275320" y="55321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275320" y="5532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40%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960120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Non-paid acquisition share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TrustFix Wins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27432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JustDial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TrustFix MVP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verification + insurance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Neighborhood-verified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packages (premium)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/ haggling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anchor + provider quote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App-only, city-wide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Phone/website, chaotic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WhatsApp-first, neighborhood-weighted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Economics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20–30% commission, trained pros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Pay-per-lead (fake leads)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commission, reputation compounds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urban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Price-sensitive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1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Trust-seeking mass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70832"/>
            <a:ext cx="11109960" cy="749808"/>
          </a:xfrm>
          <a:prstGeom prst="roundRect">
            <a:avLst>
              <a:gd name="adj" fmla="val 9756"/>
            </a:avLst>
          </a:prstGeom>
          <a:solidFill>
            <a:srgbClr val="0B3A3F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22960" y="4370832"/>
            <a:ext cx="10561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“Urban Company rents you customers. TrustFix helps you own your reputation.”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0FBFA"/>
          </a:solidFill>
          <a:ln/>
          <a:effectLst>
            <a:outerShdw blurRad="88900" dist="25400" dir="5400000" algn="bl" rotWithShape="0">
              <a:srgbClr val="0B3A3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845820" y="5481828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45820" y="54818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91640" y="5257800"/>
            <a:ext cx="9738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of neighborhood transaction data + provider habit + building partnerships. Copying the feature takes 6 months. Copying the data takes 2 years.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for Failure Modes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372135"/>
              </p:ext>
            </p:extLst>
          </p:nvPr>
        </p:nvGraphicFramePr>
        <p:xfrm>
          <a:off x="565435" y="1417320"/>
          <a:ext cx="11109960" cy="3135088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No-Show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alert + time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Blacklist after 2 incidents. Rs.100 customer credit.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Fraud (fake disputes)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Pattern: 3+ disputes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linkage + device fingerprinting. Rs.50 deposit.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Off-Platform Collusion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pattern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= visibility. Off-platform = invisible.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Job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7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anomaly + photo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Rs.200 job value. 10% random audit. Velocity limits.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Marketplace Liquidity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Jobs/provider/week &lt;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expansion. Emergency recruitment.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API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pricing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SMS channel (Twilio). PWA fallback.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3783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Flow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30352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0FB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5303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97480" y="5303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54680" y="530352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0FB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154680" y="5303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Impact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0" y="5303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60720" y="530352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0FB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60720" y="5303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Mitigation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09560" y="5303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" name="Shape 12"/>
          <p:cNvSpPr/>
          <p:nvPr/>
        </p:nvSpPr>
        <p:spPr>
          <a:xfrm>
            <a:off x="8366760" y="530352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F0FB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366760" y="5303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0" y="5303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921240" y="4828032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0B7A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921240" y="4828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Continue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921240" y="5961888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9921240" y="5961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Escalate to Ops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TrustFix — The Neighborhood Trust Ledger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F4A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015C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Scale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4A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0664" y="1746504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0664" y="1746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WhatsApp booking works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3227832"/>
            <a:ext cx="2971800" cy="0"/>
          </a:xfrm>
          <a:prstGeom prst="line">
            <a:avLst/>
          </a:prstGeom>
          <a:noFill/>
          <a:ln w="12700">
            <a:solidFill>
              <a:srgbClr val="1E6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jobs · 1 building · Rs. 22 margin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9080" y="25374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4340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4A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35424" y="1746504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35424" y="1746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density drives retention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617720" y="3227832"/>
            <a:ext cx="2971800" cy="0"/>
          </a:xfrm>
          <a:prstGeom prst="line">
            <a:avLst/>
          </a:prstGeom>
          <a:noFill/>
          <a:ln w="12700">
            <a:solidFill>
              <a:srgbClr val="1E6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17720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jobs · 5 buildings · escrow launch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25374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3816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F4A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330184" y="1746504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330184" y="1746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5256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5256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model is replicable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8412480" y="3227832"/>
            <a:ext cx="2971800" cy="0"/>
          </a:xfrm>
          <a:prstGeom prst="line">
            <a:avLst/>
          </a:prstGeom>
          <a:noFill/>
          <a:ln w="12700">
            <a:solidFill>
              <a:srgbClr val="1E6B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412480" y="3337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jobs · 2 cities · 3 categories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438912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insight. One metric. One city. One category.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ledger. </a:t>
            </a:r>
            <a:r>
              <a:rPr lang="en-US" sz="18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compounds.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" y="5989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TrustFix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743200" y="6108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 Trust Ledger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02975" y="6263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2209</Words>
  <Application>Microsoft Office PowerPoint</Application>
  <PresentationFormat>Widescreen</PresentationFormat>
  <Paragraphs>571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TrustFix — The Neighborhood Trust Ledger</dc:title>
  <dc:subject>PptxGenJS Presentation</dc:subject>
  <dc:creator>TrustFix</dc:creator>
  <cp:lastModifiedBy>Mohit Joshi</cp:lastModifiedBy>
  <cp:revision>3</cp:revision>
  <dcterms:created xsi:type="dcterms:W3CDTF">2026-07-01T14:51:45Z</dcterms:created>
  <dcterms:modified xsi:type="dcterms:W3CDTF">2026-07-02T18:12:53Z</dcterms:modified>
</cp:coreProperties>
</file>